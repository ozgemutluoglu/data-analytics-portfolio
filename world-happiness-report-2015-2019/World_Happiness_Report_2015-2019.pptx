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 ANALYTICS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Happiness Report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2019: Küresel Mutluluğu Şekillendiren Faktörlerin Analizi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128016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ile veri birleştirme  •  EDA  •  Tableau interaktif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Leman Özge Mutluoğlu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824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github.com/ozgemutluoglu/data-analytics-portfolio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EKİBİ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6492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 Nur Kaşram  ·  Hilal Emen Balcı  ·  Şeyma Türköner  ·  Eslem Hanım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Özeti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2015–2019 yılları arasında Dünya Mutluluk Raporu verileri, farklı şemalara sahip 5 ayrı veri setinden pandas ile birleştirilerek tek bir analiz tablosu oluşturuldu. Amaç, ülkelerin mutluluk skorlarını etkileyen ekonomik, sosyal ve kurumsal faktörleri keşfetmek ve yıllar içindeki değişimi görselleştirmekti.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309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Kaggle — World Happiness Report (2015–2019)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değişken: Happiness Score, GDP, Family/Social Support, Health, Freedom, Trust, Generosity, Dystopia Residual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ülke, 5 bölge grubu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8952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18120" y="1627632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6276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15400" y="15087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(2015–2019)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18120" y="3319272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33192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18120" y="33192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15400" y="32004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475488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18120" y="5010912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50109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15400" y="48920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Belirleyici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Faktör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veriden interaktif dashboard'a giden dört aşamalı süreç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6974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Toplama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2015–2019 için 5 ayrı CSV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(Kaggle)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26974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Temizleme &amp; Birleştirme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4251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ile şema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uyumlaştırma, merge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5180" y="269748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5518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Analiz (EDA)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4251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&amp; dağılım analizi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23774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89820" y="2697480"/>
            <a:ext cx="822960" cy="82296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4" name="Text 22"/>
          <p:cNvSpPr/>
          <p:nvPr/>
        </p:nvSpPr>
        <p:spPr>
          <a:xfrm>
            <a:off x="998982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8116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Görselleştirme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4251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ile interaktif,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filtreli dashboard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2015 ve 2016 veri setlerinde “Region” alanı, sonraki yıllarda bulunmuyordu; bölge bilgisi ülke bazında eşleştirilerek tüm yıllara taşındı.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Küresel Görünüm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itibarıyla ülkelere göre mutluluk skoru dağılımı</a:t>
            </a:r>
            <a:endParaRPr lang="en-US" sz="1400" dirty="0"/>
          </a:p>
        </p:txBody>
      </p:sp>
      <p:pic>
        <p:nvPicPr>
          <p:cNvPr id="4" name="Image 0" descr="/home/claude/crops/map_2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4727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4592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SKOR (2019)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46720" y="20299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7.769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0" y="2633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Finlandiya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333756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 SKOR (2019)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0" y="37216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2.853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818120" y="502920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5166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YILLIK ORTALAMA ARTIŞ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0" y="54132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046720" y="6016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üst ve en alt uçta hafif yükseliş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Mutlu 10 Ülke: 2015–2019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Kuzey Avrupa ülkeleri beş yıl boyunca listeye hakim; Finlandiya 2018'den itibaren 1 numara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21408"/>
                <a:gridCol w="2121408"/>
                <a:gridCol w="2121408"/>
                <a:gridCol w="2121408"/>
                <a:gridCol w="212140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2015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2016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2017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9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Switzerland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Denmark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Norway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</a:rPr>
                        <a:t>Finland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8860B"/>
                          </a:solidFill>
                        </a:rPr>
                        <a:t>Finland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Iceland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Switzerland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Denmark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Norway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Denmark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Denmark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Iceland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Iceland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Denmark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Norway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Norway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Norway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Switzerland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Iceland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Iceland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Canada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Finland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Finland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Switzerland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Netherlands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Finland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Canada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Netherlands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Netherlands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Switzerland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Netherlands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Netherlands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Canada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Canada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Sweden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Sweden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New Zealand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New Zealand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New Zealand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New Zealand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9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New Zealand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Australia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Sweden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Sweden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Canada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Australia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Sweden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Australia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Australia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</a:rPr>
                        <a:t>Austria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Mutluluğu Ne Belirliyor?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Score ile altı faktör arasındaki korelasyon (2015–2019 tutarlı bir örüntü gösteriyor)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583680" cy="359294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pic>
        <p:nvPicPr>
          <p:cNvPr id="5" name="Image 0" descr="/home/claude/crops/correlation_2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309360" cy="331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783080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6276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 (GDP per Capita)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 ilişkili faktör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69480" y="2834640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26791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/ Sosyal Destek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Sağlık (Yaşam Beklentisi) yakın ikinci sırada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3886200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1" name="Text 8"/>
          <p:cNvSpPr/>
          <p:nvPr/>
        </p:nvSpPr>
        <p:spPr>
          <a:xfrm>
            <a:off x="7543800" y="373075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Özgürlük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düzeyde ilişkili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4937760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478231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(Devlet Yolsuzluğu) ve Cömertlik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zayıf ilişkili faktörler — beş yıl boyunca değişmiyor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 ve Yaşam Beklentisi vs. Mutluluk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refah ve sağlık, mutluluk skoruyla güçlü pozitif ilişki gösteriyor (2019)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7223760" cy="5116460"/>
          </a:xfrm>
          <a:prstGeom prst="roundRect">
            <a:avLst>
              <a:gd name="adj" fmla="val 1072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pic>
        <p:nvPicPr>
          <p:cNvPr id="5" name="Image 0" descr="/home/claude/crops/scatter_2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949440" cy="48421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818388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37744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GDP per capita'ya sahip ülkeler, genellikle daha yüksek yaşam beklentisi ve daha yüksek mutluluk skoruna sahip.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ilişki doğrusal değil: benzer GDP seviyesindeki ülkeler arasında mutluluk skorunda gözle görülür farklar var — bu da ekonominin tek başına yeterli açıklayıcı olmadığını gösteriyor.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Özgürlük &amp; Sosyal Destek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Mutluluk skoru arttıkça özgürlük ve aile/sosyal destek algısı da yükseliyor (2019)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18520" cy="3242577"/>
          </a:xfrm>
          <a:prstGeom prst="roundRect">
            <a:avLst>
              <a:gd name="adj" fmla="val 1692"/>
            </a:avLst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pic>
        <p:nvPicPr>
          <p:cNvPr id="5" name="Image 0" descr="/home/claude/crops/freedom_2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91640"/>
            <a:ext cx="10881360" cy="30139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Kesikli trend çizgileri her iki değişken için de pozitif eğim gösteriyor: daha mutlu ülkelerde bireyler yaşam tercihlerinde daha özgür hissediyor ve daha güçlü bir sosyal destek ağına sahip.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Bulgular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B9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Kuzey Avrupa ülkeleri (Finlandiya, Danimarka, Norveç, İzlanda, İsviçre) 2015–2019 boyunca ilk 10'a hakim.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317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Finlandiya 2018'den itibaren listenin zirvesine yerleşti ve 2019'a kadar korudu.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2918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 (GDP), Aile/Sosyal Destek ve Sağlık, mutluluk skorunun en güçlü belirleyicileri.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B9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519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(yolsuzluk algısı) ve Cömertlik, tüm yıllarda en zayıf ilişkili faktörler olarak kaldı.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B94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212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ve en düşük skorlar arasındaki fark yıllar içinde nispeten stabil; küresel mutluluk dağılımı kalıcı bir eşitsizlik örüntüsü gösteriyor.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2015–2019  •  Kaggle Data Analytics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41F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822960"/>
            <a:ext cx="2011680" cy="201168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1280160" cy="0"/>
          </a:xfrm>
          <a:prstGeom prst="line">
            <a:avLst/>
          </a:prstGeom>
          <a:noFill/>
          <a:ln w="3175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91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PORTFOLIO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584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github.com/ozgemutluoglu/data-analytics-portfolio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453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 — World Happiness Report 2015–2019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321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 — World Happiness Report Analysis (2015–2019)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5806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EKİBİ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60533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Leman Özge Mutluoğlu  ·  Esma Nur Kaşram  ·  Hilal Emen Balcı  ·  Şeyma Türköner  ·  Eslem Hanım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2026-07-13T18:58:17Z</dcterms:created>
  <dcterms:modified xsi:type="dcterms:W3CDTF">2026-07-13T18:58:17Z</dcterms:modified>
</cp:coreProperties>
</file>